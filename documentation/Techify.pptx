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7"/>
  </p:notesMasterIdLst>
  <p:handoutMasterIdLst>
    <p:handoutMasterId r:id="rId28"/>
  </p:handoutMasterIdLst>
  <p:sldIdLst>
    <p:sldId id="336" r:id="rId5"/>
    <p:sldId id="312" r:id="rId6"/>
    <p:sldId id="304" r:id="rId7"/>
    <p:sldId id="307" r:id="rId8"/>
    <p:sldId id="323" r:id="rId9"/>
    <p:sldId id="281" r:id="rId10"/>
    <p:sldId id="282" r:id="rId11"/>
    <p:sldId id="314" r:id="rId12"/>
    <p:sldId id="315" r:id="rId13"/>
    <p:sldId id="324" r:id="rId14"/>
    <p:sldId id="317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1FA06-93A4-867A-EB12-1209EE33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CCA25-427F-C696-60EE-37B886B49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7075D-29D0-19ED-91B1-9B1B35BB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337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1A2E9-1769-7B17-02F3-2F5DEFBE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D654A-8E33-FF59-7678-421CB1943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9B006-7310-192D-7547-5875BEA70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577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angular.dev/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D1100A7C-7952-7C67-6F5C-E4ACF8C68F39}"/>
              </a:ext>
            </a:extLst>
          </p:cNvPr>
          <p:cNvSpPr>
            <a:spLocks noGrp="1"/>
          </p:cNvSpPr>
          <p:nvPr/>
        </p:nvSpPr>
        <p:spPr>
          <a:xfrm>
            <a:off x="2417234" y="324879"/>
            <a:ext cx="6920230" cy="17183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 err="1">
                <a:solidFill>
                  <a:schemeClr val="tx1"/>
                </a:solidFill>
              </a:rPr>
              <a:t>Prof.V.B.Shah</a:t>
            </a:r>
            <a:r>
              <a:rPr lang="en-IN" spc="-3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Institute</a:t>
            </a:r>
            <a:r>
              <a:rPr lang="en-IN" spc="-4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of</a:t>
            </a:r>
            <a:r>
              <a:rPr lang="en-IN" spc="-2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Management</a:t>
            </a:r>
            <a:r>
              <a:rPr lang="en-IN" spc="-4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&amp;</a:t>
            </a:r>
            <a:r>
              <a:rPr lang="en-IN" spc="-15" dirty="0">
                <a:solidFill>
                  <a:schemeClr val="tx1"/>
                </a:solidFill>
              </a:rPr>
              <a:t> </a:t>
            </a:r>
            <a:r>
              <a:rPr lang="en-IN" spc="-25" dirty="0" err="1">
                <a:solidFill>
                  <a:schemeClr val="tx1"/>
                </a:solidFill>
              </a:rPr>
              <a:t>R.V.Patel</a:t>
            </a:r>
            <a:r>
              <a:rPr lang="en-IN" spc="-4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College</a:t>
            </a:r>
            <a:r>
              <a:rPr lang="en-IN" spc="-4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of</a:t>
            </a:r>
            <a:r>
              <a:rPr lang="en-IN" spc="-25" dirty="0">
                <a:solidFill>
                  <a:schemeClr val="tx1"/>
                </a:solidFill>
              </a:rPr>
              <a:t> </a:t>
            </a:r>
            <a:r>
              <a:rPr lang="en-IN" spc="-10" dirty="0">
                <a:solidFill>
                  <a:schemeClr val="tx1"/>
                </a:solidFill>
              </a:rPr>
              <a:t>Commerce</a:t>
            </a:r>
            <a:br>
              <a:rPr lang="en-IN" spc="-10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(</a:t>
            </a:r>
            <a:r>
              <a:rPr lang="en-IN" dirty="0" err="1">
                <a:solidFill>
                  <a:schemeClr val="tx1"/>
                </a:solidFill>
              </a:rPr>
              <a:t>Eng.Med</a:t>
            </a:r>
            <a:r>
              <a:rPr lang="en-IN" dirty="0">
                <a:solidFill>
                  <a:schemeClr val="tx1"/>
                </a:solidFill>
              </a:rPr>
              <a:t>.)</a:t>
            </a:r>
            <a:r>
              <a:rPr lang="en-IN" spc="-2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&amp;</a:t>
            </a:r>
            <a:r>
              <a:rPr lang="en-IN" spc="-15" dirty="0">
                <a:solidFill>
                  <a:schemeClr val="tx1"/>
                </a:solidFill>
              </a:rPr>
              <a:t> </a:t>
            </a:r>
            <a:r>
              <a:rPr lang="en-IN" spc="-20" dirty="0" err="1">
                <a:solidFill>
                  <a:schemeClr val="tx1"/>
                </a:solidFill>
              </a:rPr>
              <a:t>V.L.Shah</a:t>
            </a:r>
            <a:r>
              <a:rPr lang="en-IN" spc="-5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College</a:t>
            </a:r>
            <a:r>
              <a:rPr lang="en-IN" spc="-5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of</a:t>
            </a:r>
            <a:r>
              <a:rPr lang="en-IN" spc="-2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Commerce</a:t>
            </a:r>
            <a:r>
              <a:rPr lang="en-IN" spc="-4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(</a:t>
            </a:r>
            <a:r>
              <a:rPr lang="en-IN" dirty="0" err="1">
                <a:solidFill>
                  <a:schemeClr val="tx1"/>
                </a:solidFill>
              </a:rPr>
              <a:t>Guj.Med</a:t>
            </a:r>
            <a:r>
              <a:rPr lang="en-IN" dirty="0">
                <a:solidFill>
                  <a:schemeClr val="tx1"/>
                </a:solidFill>
              </a:rPr>
              <a:t>.)</a:t>
            </a:r>
            <a:r>
              <a:rPr lang="en-IN" spc="-10" dirty="0">
                <a:solidFill>
                  <a:schemeClr val="tx1"/>
                </a:solidFill>
              </a:rPr>
              <a:t> </a:t>
            </a:r>
            <a:r>
              <a:rPr lang="en-IN" spc="-50" dirty="0">
                <a:solidFill>
                  <a:schemeClr val="tx1"/>
                </a:solidFill>
              </a:rPr>
              <a:t>&amp; </a:t>
            </a:r>
            <a:r>
              <a:rPr lang="en-IN" dirty="0" err="1">
                <a:solidFill>
                  <a:schemeClr val="tx1"/>
                </a:solidFill>
              </a:rPr>
              <a:t>Sutex</a:t>
            </a:r>
            <a:r>
              <a:rPr lang="en-IN" spc="-3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Bank</a:t>
            </a:r>
            <a:r>
              <a:rPr lang="en-IN" spc="-3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College</a:t>
            </a:r>
            <a:r>
              <a:rPr lang="en-IN" spc="-5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of</a:t>
            </a:r>
            <a:r>
              <a:rPr lang="en-IN" spc="-2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Computer</a:t>
            </a:r>
            <a:r>
              <a:rPr lang="en-IN" spc="-35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Applications</a:t>
            </a:r>
            <a:r>
              <a:rPr lang="en-IN" spc="-3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&amp;</a:t>
            </a:r>
            <a:r>
              <a:rPr lang="en-IN" spc="-30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Science,</a:t>
            </a:r>
            <a:r>
              <a:rPr lang="en-IN" spc="-95" dirty="0">
                <a:solidFill>
                  <a:schemeClr val="tx1"/>
                </a:solidFill>
              </a:rPr>
              <a:t> </a:t>
            </a:r>
            <a:r>
              <a:rPr lang="en-IN" spc="-10" dirty="0" err="1">
                <a:solidFill>
                  <a:schemeClr val="tx1"/>
                </a:solidFill>
              </a:rPr>
              <a:t>Amroli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4604243-B7E9-D735-BFBB-5D7EE84254CB}"/>
              </a:ext>
            </a:extLst>
          </p:cNvPr>
          <p:cNvSpPr>
            <a:spLocks noGrp="1"/>
          </p:cNvSpPr>
          <p:nvPr/>
        </p:nvSpPr>
        <p:spPr>
          <a:xfrm>
            <a:off x="2248324" y="2259089"/>
            <a:ext cx="5823585" cy="610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1656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8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(Accredited</a:t>
            </a:r>
            <a:r>
              <a:rPr kumimoji="0" lang="en-IN" sz="1800" b="0" i="0" u="none" strike="noStrike" kern="0" cap="none" spc="-4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‘B’</a:t>
            </a:r>
            <a:r>
              <a:rPr kumimoji="0" lang="en-IN" sz="1800" b="0" i="0" u="none" strike="noStrike" kern="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(CGPA</a:t>
            </a:r>
            <a:r>
              <a:rPr kumimoji="0" lang="en-IN" sz="18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2.55)</a:t>
            </a:r>
            <a:r>
              <a:rPr kumimoji="0" lang="en-IN" sz="1800" b="0" i="0" u="none" strike="noStrike" kern="0" cap="none" spc="-3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by</a:t>
            </a:r>
            <a:r>
              <a:rPr kumimoji="0" lang="en-IN" sz="1800" b="0" i="0" u="none" strike="noStrike" kern="0" cap="none" spc="-4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NAAC</a:t>
            </a:r>
            <a:r>
              <a:rPr kumimoji="0" lang="en-IN" sz="18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Dec.-2009)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anose="02040503050406030204"/>
              <a:cs typeface="Cambria" panose="02040503050406030204"/>
            </a:endParaRPr>
          </a:p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   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VEER</a:t>
            </a:r>
            <a:r>
              <a:rPr kumimoji="0" lang="en-IN" sz="1800" b="0" i="0" u="none" strike="noStrike" kern="0" cap="none" spc="-4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NARMAD</a:t>
            </a:r>
            <a:r>
              <a:rPr kumimoji="0" lang="en-IN" sz="1800" b="0" i="0" u="none" strike="noStrike" kern="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SOUTH</a:t>
            </a:r>
            <a:r>
              <a:rPr kumimoji="0" lang="en-IN" sz="1800" b="0" i="0" u="none" strike="noStrike" kern="0" cap="none" spc="-6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GUJARAT</a:t>
            </a:r>
            <a:r>
              <a:rPr kumimoji="0" lang="en-IN" sz="1800" b="0" i="0" u="none" strike="noStrike" kern="0" cap="none" spc="-4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2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UNIVERSITY,</a:t>
            </a:r>
            <a:r>
              <a:rPr kumimoji="0" lang="en-IN" sz="1800" b="0" i="0" u="none" strike="noStrike" kern="0" cap="none" spc="-65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 </a:t>
            </a:r>
            <a:r>
              <a:rPr kumimoji="0" lang="en-IN" sz="18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anose="02040503050406030204"/>
                <a:cs typeface="Cambria" panose="02040503050406030204"/>
              </a:rPr>
              <a:t>SURAT</a:t>
            </a:r>
          </a:p>
        </p:txBody>
      </p:sp>
      <p:pic>
        <p:nvPicPr>
          <p:cNvPr id="5" name="object 8">
            <a:extLst>
              <a:ext uri="{FF2B5EF4-FFF2-40B4-BE49-F238E27FC236}">
                <a16:creationId xmlns:a16="http://schemas.microsoft.com/office/drawing/2014/main" id="{4FB3C4C7-00D2-186A-644B-1F36475B56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21" y="324748"/>
            <a:ext cx="1676400" cy="1569720"/>
          </a:xfrm>
          <a:prstGeom prst="rect">
            <a:avLst/>
          </a:prstGeom>
        </p:spPr>
      </p:pic>
      <p:sp>
        <p:nvSpPr>
          <p:cNvPr id="6" name="TextBox 15">
            <a:extLst>
              <a:ext uri="{FF2B5EF4-FFF2-40B4-BE49-F238E27FC236}">
                <a16:creationId xmlns:a16="http://schemas.microsoft.com/office/drawing/2014/main" id="{06721CF7-DEAC-7690-21AC-DC063A7A2481}"/>
              </a:ext>
            </a:extLst>
          </p:cNvPr>
          <p:cNvSpPr txBox="1"/>
          <p:nvPr/>
        </p:nvSpPr>
        <p:spPr>
          <a:xfrm>
            <a:off x="2005570" y="3085224"/>
            <a:ext cx="606650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060" algn="ctr">
              <a:lnSpc>
                <a:spcPct val="100000"/>
              </a:lnSpc>
              <a:spcBef>
                <a:spcPts val="105"/>
              </a:spcBef>
            </a:pPr>
            <a:r>
              <a:rPr lang="en-US" sz="2000" spc="-10" dirty="0">
                <a:latin typeface="Cambria" panose="02040503050406030204"/>
                <a:cs typeface="Cambria" panose="02040503050406030204"/>
              </a:rPr>
              <a:t>Minor-</a:t>
            </a:r>
            <a:r>
              <a:rPr lang="en-US" sz="2000" dirty="0">
                <a:latin typeface="Cambria" panose="02040503050406030204"/>
                <a:cs typeface="Cambria" panose="02040503050406030204"/>
              </a:rPr>
              <a:t>PROJECT</a:t>
            </a:r>
            <a:r>
              <a:rPr lang="en-US" sz="2000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10" dirty="0">
                <a:latin typeface="Cambria" panose="02040503050406030204"/>
                <a:cs typeface="Cambria" panose="02040503050406030204"/>
              </a:rPr>
              <a:t>REPORT</a:t>
            </a:r>
            <a:endParaRPr lang="en-US" sz="2000" dirty="0">
              <a:latin typeface="Cambria" panose="02040503050406030204"/>
              <a:cs typeface="Cambria" panose="02040503050406030204"/>
            </a:endParaRPr>
          </a:p>
          <a:p>
            <a:pPr marR="449580" algn="ctr">
              <a:lnSpc>
                <a:spcPct val="100000"/>
              </a:lnSpc>
              <a:spcBef>
                <a:spcPts val="5"/>
              </a:spcBef>
            </a:pPr>
            <a:r>
              <a:rPr lang="en-US" dirty="0">
                <a:latin typeface="Cambria" panose="02040503050406030204"/>
                <a:cs typeface="Cambria" panose="02040503050406030204"/>
              </a:rPr>
              <a:t>	FOR</a:t>
            </a:r>
            <a:r>
              <a:rPr lang="en-US" spc="-3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THE</a:t>
            </a:r>
            <a:r>
              <a:rPr lang="en-US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DEGREE</a:t>
            </a:r>
            <a:r>
              <a:rPr lang="en-US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25" dirty="0">
                <a:latin typeface="Cambria" panose="02040503050406030204"/>
                <a:cs typeface="Cambria" panose="02040503050406030204"/>
              </a:rPr>
              <a:t>OF</a:t>
            </a:r>
            <a:endParaRPr lang="en-US" dirty="0">
              <a:latin typeface="Cambria" panose="02040503050406030204"/>
              <a:cs typeface="Cambria" panose="02040503050406030204"/>
            </a:endParaRPr>
          </a:p>
          <a:p>
            <a:pPr marL="12700" algn="ctr">
              <a:lnSpc>
                <a:spcPct val="100000"/>
              </a:lnSpc>
            </a:pPr>
            <a:r>
              <a:rPr lang="en-US" i="1" spc="-10" dirty="0">
                <a:latin typeface="Cambria" panose="02040503050406030204"/>
                <a:cs typeface="Cambria" panose="02040503050406030204"/>
              </a:rPr>
              <a:t>Bachelor</a:t>
            </a:r>
            <a:r>
              <a:rPr lang="en-US" i="1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i="1" dirty="0">
                <a:latin typeface="Cambria" panose="02040503050406030204"/>
                <a:cs typeface="Cambria" panose="02040503050406030204"/>
              </a:rPr>
              <a:t>of</a:t>
            </a:r>
            <a:r>
              <a:rPr lang="en-US" i="1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i="1" spc="-10" dirty="0">
                <a:latin typeface="Cambria" panose="02040503050406030204"/>
                <a:cs typeface="Cambria" panose="02040503050406030204"/>
              </a:rPr>
              <a:t>computer</a:t>
            </a:r>
            <a:r>
              <a:rPr lang="en-US" i="1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i="1" spc="-10" dirty="0">
                <a:latin typeface="Cambria" panose="02040503050406030204"/>
                <a:cs typeface="Cambria" panose="02040503050406030204"/>
              </a:rPr>
              <a:t>application</a:t>
            </a:r>
            <a:endParaRPr lang="en-US" dirty="0">
              <a:latin typeface="Cambria" panose="02040503050406030204"/>
              <a:cs typeface="Cambria" panose="02040503050406030204"/>
            </a:endParaRPr>
          </a:p>
          <a:p>
            <a:pPr marL="230505" marR="679450" algn="ctr">
              <a:lnSpc>
                <a:spcPct val="100000"/>
              </a:lnSpc>
            </a:pPr>
            <a:r>
              <a:rPr lang="en-US" dirty="0">
                <a:latin typeface="Cambria" panose="02040503050406030204"/>
                <a:cs typeface="Cambria" panose="02040503050406030204"/>
              </a:rPr>
              <a:t>(B.C.A</a:t>
            </a:r>
            <a:r>
              <a:rPr lang="en-US" spc="-40" dirty="0">
                <a:latin typeface="Cambria" panose="02040503050406030204"/>
                <a:cs typeface="Cambria" panose="02040503050406030204"/>
              </a:rPr>
              <a:t> 6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TH</a:t>
            </a:r>
            <a:r>
              <a:rPr lang="en-US" spc="-4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10" dirty="0">
                <a:latin typeface="Cambria" panose="02040503050406030204"/>
                <a:cs typeface="Cambria" panose="02040503050406030204"/>
              </a:rPr>
              <a:t>SEMESTER)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YEAR:</a:t>
            </a:r>
            <a:r>
              <a:rPr lang="en-US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20" dirty="0">
                <a:latin typeface="Cambria" panose="02040503050406030204"/>
                <a:cs typeface="Cambria" panose="02040503050406030204"/>
              </a:rPr>
              <a:t>2025-</a:t>
            </a:r>
            <a:r>
              <a:rPr lang="en-US" spc="-25" dirty="0">
                <a:latin typeface="Cambria" panose="02040503050406030204"/>
                <a:cs typeface="Cambria" panose="02040503050406030204"/>
              </a:rPr>
              <a:t>26</a:t>
            </a:r>
            <a:endParaRPr lang="en-US" dirty="0">
              <a:latin typeface="Cambria" panose="02040503050406030204"/>
              <a:cs typeface="Cambria" panose="02040503050406030204"/>
            </a:endParaRPr>
          </a:p>
          <a:p>
            <a:pPr algn="ctr"/>
            <a:endParaRPr lang="en-IN" dirty="0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08B6536C-2045-0DD2-DA24-E01D13EC5B59}"/>
              </a:ext>
            </a:extLst>
          </p:cNvPr>
          <p:cNvSpPr txBox="1"/>
          <p:nvPr/>
        </p:nvSpPr>
        <p:spPr>
          <a:xfrm>
            <a:off x="830369" y="5150244"/>
            <a:ext cx="3028172" cy="822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ambria" panose="02040503050406030204"/>
                <a:cs typeface="Cambria" panose="02040503050406030204"/>
              </a:rPr>
              <a:t>GUIDED</a:t>
            </a:r>
            <a:r>
              <a:rPr lang="en-US" sz="2000" spc="-5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dirty="0">
                <a:latin typeface="Cambria" panose="02040503050406030204"/>
                <a:cs typeface="Cambria" panose="02040503050406030204"/>
              </a:rPr>
              <a:t>BY</a:t>
            </a:r>
            <a:r>
              <a:rPr lang="en-US" sz="2000" spc="-6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z="2000" spc="-50" dirty="0">
                <a:latin typeface="Cambria" panose="02040503050406030204"/>
                <a:cs typeface="Cambria" panose="02040503050406030204"/>
              </a:rPr>
              <a:t>:</a:t>
            </a:r>
            <a:endParaRPr lang="en-US" sz="2000" dirty="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lang="en-US" dirty="0">
                <a:latin typeface="Cambria" panose="02040503050406030204"/>
                <a:cs typeface="Cambria" panose="02040503050406030204"/>
              </a:rPr>
              <a:t>Mr. Ashish </a:t>
            </a:r>
            <a:r>
              <a:rPr lang="en-US" dirty="0" err="1">
                <a:latin typeface="Cambria" panose="02040503050406030204"/>
                <a:cs typeface="Cambria" panose="02040503050406030204"/>
              </a:rPr>
              <a:t>solanki</a:t>
            </a:r>
            <a:r>
              <a:rPr lang="en-US" spc="-10" dirty="0" err="1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amani</a:t>
            </a:r>
            <a:r>
              <a:rPr lang="en-US" spc="-1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.</a:t>
            </a:r>
            <a:endParaRPr lang="en-IN" dirty="0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6AC606BE-64C7-FCD1-E2F8-2B38A1A420A5}"/>
              </a:ext>
            </a:extLst>
          </p:cNvPr>
          <p:cNvSpPr txBox="1"/>
          <p:nvPr/>
        </p:nvSpPr>
        <p:spPr>
          <a:xfrm>
            <a:off x="6553624" y="4628888"/>
            <a:ext cx="4897755" cy="1904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dirty="0">
                <a:latin typeface="Cambria" panose="02040503050406030204"/>
                <a:cs typeface="Cambria" panose="02040503050406030204"/>
              </a:rPr>
              <a:t>SUBMITTED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dirty="0">
                <a:latin typeface="Cambria" panose="02040503050406030204"/>
                <a:cs typeface="Cambria" panose="02040503050406030204"/>
              </a:rPr>
              <a:t>BY</a:t>
            </a:r>
            <a:r>
              <a:rPr lang="en-US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:</a:t>
            </a:r>
          </a:p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spc="-50" dirty="0">
                <a:latin typeface="Cambria" panose="02040503050406030204"/>
                <a:cs typeface="Cambria" panose="02040503050406030204"/>
              </a:rPr>
              <a:t>412 – Bhalala Jenish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Shaileshbhai</a:t>
            </a:r>
            <a:endParaRPr lang="en-US" spc="-50" dirty="0">
              <a:latin typeface="Cambria" panose="02040503050406030204"/>
              <a:cs typeface="Cambria" panose="02040503050406030204"/>
            </a:endParaRPr>
          </a:p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spc="-50" dirty="0">
                <a:latin typeface="Cambria" panose="02040503050406030204"/>
                <a:cs typeface="Cambria" panose="02040503050406030204"/>
              </a:rPr>
              <a:t>433 – Sakariya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Pruthviraj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Sureshbhai</a:t>
            </a:r>
            <a:endParaRPr lang="en-US" spc="-50" dirty="0">
              <a:latin typeface="Cambria" panose="02040503050406030204"/>
              <a:cs typeface="Cambria" panose="02040503050406030204"/>
            </a:endParaRPr>
          </a:p>
          <a:p>
            <a:pPr marL="178435">
              <a:lnSpc>
                <a:spcPct val="100000"/>
              </a:lnSpc>
              <a:spcBef>
                <a:spcPts val="370"/>
              </a:spcBef>
            </a:pPr>
            <a:r>
              <a:rPr lang="en-US" spc="-50" dirty="0">
                <a:latin typeface="Cambria" panose="02040503050406030204"/>
                <a:cs typeface="Cambria" panose="02040503050406030204"/>
              </a:rPr>
              <a:t>470 –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Patoliya</a:t>
            </a:r>
            <a:r>
              <a:rPr lang="en-US" spc="-50" dirty="0">
                <a:latin typeface="Cambria" panose="02040503050406030204"/>
                <a:cs typeface="Cambria" panose="02040503050406030204"/>
              </a:rPr>
              <a:t> Raj </a:t>
            </a:r>
            <a:r>
              <a:rPr lang="en-US" spc="-50" dirty="0" err="1">
                <a:latin typeface="Cambria" panose="02040503050406030204"/>
                <a:cs typeface="Cambria" panose="02040503050406030204"/>
              </a:rPr>
              <a:t>Ratibhai</a:t>
            </a:r>
            <a:endParaRPr lang="en-US" spc="-5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TextBox 18">
            <a:extLst>
              <a:ext uri="{FF2B5EF4-FFF2-40B4-BE49-F238E27FC236}">
                <a16:creationId xmlns:a16="http://schemas.microsoft.com/office/drawing/2014/main" id="{FFB8DAA3-D192-FAAC-88E2-0135BF7C85C9}"/>
              </a:ext>
            </a:extLst>
          </p:cNvPr>
          <p:cNvSpPr txBox="1"/>
          <p:nvPr/>
        </p:nvSpPr>
        <p:spPr>
          <a:xfrm>
            <a:off x="4114588" y="5112144"/>
            <a:ext cx="2091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latin typeface="+mj-lt"/>
                <a:ea typeface="+mj-ea"/>
                <a:cs typeface="+mj-cs"/>
              </a:rPr>
              <a:t>Techify</a:t>
            </a:r>
            <a:endParaRPr lang="en-IN" sz="28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9939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Techify</a:t>
            </a:r>
            <a:br>
              <a:rPr lang="en-US" dirty="0"/>
            </a:br>
            <a:r>
              <a:rPr lang="en-US" dirty="0"/>
              <a:t>(e-commerce platform)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691148"/>
            <a:ext cx="6583680" cy="497512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Project Overview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Project Profile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System Flow Diagram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Data Flow Diagram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ER Diagram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Database Design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Database Design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383" y="156823"/>
            <a:ext cx="7965461" cy="994164"/>
          </a:xfrm>
        </p:spPr>
        <p:txBody>
          <a:bodyPr/>
          <a:lstStyle/>
          <a:p>
            <a:r>
              <a:rPr lang="en-US" dirty="0"/>
              <a:t>Project Overview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10F18-487C-431C-D189-CB0DDA89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77383" y="1543665"/>
            <a:ext cx="8348642" cy="4257062"/>
          </a:xfrm>
        </p:spPr>
        <p:txBody>
          <a:bodyPr>
            <a:normAutofit/>
          </a:bodyPr>
          <a:lstStyle/>
          <a:p>
            <a:r>
              <a:rPr lang="en-US" sz="2000" dirty="0" err="1"/>
              <a:t>Techify</a:t>
            </a:r>
            <a:r>
              <a:rPr lang="en-US" sz="2000" dirty="0"/>
              <a:t> is a modern, responsive full-stack e-commerce platform designed to provide a seamless online shopping experience for technology products and electronics. </a:t>
            </a:r>
          </a:p>
          <a:p>
            <a:r>
              <a:rPr lang="en-US" sz="2000" dirty="0"/>
              <a:t>It serves everyday consumers and tech enthusiasts seeking a reliable, secure, and user-friendly storefront to discover, save, and purchase products. </a:t>
            </a:r>
          </a:p>
          <a:p>
            <a:r>
              <a:rPr lang="en-US" sz="2000" dirty="0"/>
              <a:t>The platform emphasizes an intuitive user interface, efficient product management, secure cart and checkout processes, and responsive design. </a:t>
            </a:r>
          </a:p>
          <a:p>
            <a:r>
              <a:rPr lang="en-US" sz="2000" dirty="0" err="1"/>
              <a:t>Techify</a:t>
            </a:r>
            <a:r>
              <a:rPr lang="en-US" sz="2000" dirty="0"/>
              <a:t> consists of two primary access levels: </a:t>
            </a:r>
          </a:p>
          <a:p>
            <a:pPr marL="400050" indent="-400050">
              <a:buAutoNum type="romanUcPeriod"/>
            </a:pPr>
            <a:r>
              <a:rPr lang="en-US" sz="2000" dirty="0"/>
              <a:t>Admin Panel </a:t>
            </a:r>
          </a:p>
          <a:p>
            <a:pPr marL="400050" indent="-400050">
              <a:buAutoNum type="romanUcPeriod"/>
            </a:pPr>
            <a:r>
              <a:rPr lang="en-US" sz="2000" dirty="0"/>
              <a:t>II. User Panel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76241-B708-C568-DD3F-9803CE75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64E8E-9FC7-5A7E-9049-489E121F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45998"/>
            <a:ext cx="8917858" cy="879679"/>
          </a:xfrm>
        </p:spPr>
        <p:txBody>
          <a:bodyPr/>
          <a:lstStyle/>
          <a:p>
            <a:r>
              <a:rPr lang="en-US" dirty="0"/>
              <a:t>admin panel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DFCB8-43D5-1F99-4677-6D95106CD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58298"/>
            <a:ext cx="10589342" cy="418368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Requires login with an administrator account.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Admin can add, view, update, and delete products from the catalog.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Admin can view, manage, and delete registered user accounts.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Admin can view user orders and update their order status (Processing, Shipped, Delivered).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Admin can read and manage customer inquiries and messages submitted via the Contact Us form. </a:t>
            </a:r>
          </a:p>
        </p:txBody>
      </p:sp>
    </p:spTree>
    <p:extLst>
      <p:ext uri="{BB962C8B-B14F-4D97-AF65-F5344CB8AC3E}">
        <p14:creationId xmlns:p14="http://schemas.microsoft.com/office/powerpoint/2010/main" val="362939286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45998"/>
            <a:ext cx="8917858" cy="879679"/>
          </a:xfrm>
        </p:spPr>
        <p:txBody>
          <a:bodyPr/>
          <a:lstStyle/>
          <a:p>
            <a:r>
              <a:rPr lang="en-US" dirty="0"/>
              <a:t>User panel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858298"/>
            <a:ext cx="10589342" cy="418368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Requires login with a user account (guests may be able to browse).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Users can view and update their profile, including their shipping address.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Users can browse, search, and filter products by category and brand.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Users can add products to an active shopping cart or save them to a </a:t>
            </a:r>
            <a:r>
              <a:rPr lang="en-US" dirty="0" err="1"/>
              <a:t>wishlist</a:t>
            </a:r>
            <a:r>
              <a:rPr lang="en-US" dirty="0"/>
              <a:t> for later.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Users can proceed to checkout, place orders securely, and view their past order history.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Users can send inquiries, complaints, or suggestions to the admin using the Contact Us form.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101" y="120003"/>
            <a:ext cx="7965461" cy="994164"/>
          </a:xfrm>
        </p:spPr>
        <p:txBody>
          <a:bodyPr/>
          <a:lstStyle/>
          <a:p>
            <a:r>
              <a:rPr lang="en-US" dirty="0"/>
              <a:t>Project profile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E8D5A5-65A9-4D97-718C-C5FB7CCA698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48251228"/>
              </p:ext>
            </p:extLst>
          </p:nvPr>
        </p:nvGraphicFramePr>
        <p:xfrm>
          <a:off x="3559277" y="1779637"/>
          <a:ext cx="7059562" cy="4621163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3529370">
                  <a:extLst>
                    <a:ext uri="{9D8B030D-6E8A-4147-A177-3AD203B41FA5}">
                      <a16:colId xmlns:a16="http://schemas.microsoft.com/office/drawing/2014/main" val="117741906"/>
                    </a:ext>
                  </a:extLst>
                </a:gridCol>
                <a:gridCol w="3530192">
                  <a:extLst>
                    <a:ext uri="{9D8B030D-6E8A-4147-A177-3AD203B41FA5}">
                      <a16:colId xmlns:a16="http://schemas.microsoft.com/office/drawing/2014/main" val="3284871953"/>
                    </a:ext>
                  </a:extLst>
                </a:gridCol>
              </a:tblGrid>
              <a:tr h="544166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buNone/>
                      </a:pPr>
                      <a:r>
                        <a:rPr lang="en-US" sz="1300">
                          <a:effectLst/>
                        </a:rPr>
                        <a:t>Techify</a:t>
                      </a:r>
                      <a:endParaRPr lang="en-US" sz="800" b="1">
                        <a:solidFill>
                          <a:srgbClr val="4F81BD"/>
                        </a:solidFill>
                        <a:effectLst/>
                        <a:latin typeface="Cambria" panose="02040503050406030204" pitchFamily="18" charset="0"/>
                        <a:ea typeface="MS Gothic" panose="020B06090702050802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563225"/>
                  </a:ext>
                </a:extLst>
              </a:tr>
              <a:tr h="5748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Project Title 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Techify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extLst>
                  <a:ext uri="{0D108BD9-81ED-4DB2-BD59-A6C34878D82A}">
                    <a16:rowId xmlns:a16="http://schemas.microsoft.com/office/drawing/2014/main" val="2055170055"/>
                  </a:ext>
                </a:extLst>
              </a:tr>
              <a:tr h="6017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Fontend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HTML , CSS, Anguler, Tailwind css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extLst>
                  <a:ext uri="{0D108BD9-81ED-4DB2-BD59-A6C34878D82A}">
                    <a16:rowId xmlns:a16="http://schemas.microsoft.com/office/drawing/2014/main" val="3984586344"/>
                  </a:ext>
                </a:extLst>
              </a:tr>
              <a:tr h="5748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Backend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Node Js, Express Js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extLst>
                  <a:ext uri="{0D108BD9-81ED-4DB2-BD59-A6C34878D82A}">
                    <a16:rowId xmlns:a16="http://schemas.microsoft.com/office/drawing/2014/main" val="2393881234"/>
                  </a:ext>
                </a:extLst>
              </a:tr>
              <a:tr h="5748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Database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MongoDB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extLst>
                  <a:ext uri="{0D108BD9-81ED-4DB2-BD59-A6C34878D82A}">
                    <a16:rowId xmlns:a16="http://schemas.microsoft.com/office/drawing/2014/main" val="291803696"/>
                  </a:ext>
                </a:extLst>
              </a:tr>
              <a:tr h="6017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Platform 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Vs Code, Mongo DB Compass, Stitch, Git Hub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extLst>
                  <a:ext uri="{0D108BD9-81ED-4DB2-BD59-A6C34878D82A}">
                    <a16:rowId xmlns:a16="http://schemas.microsoft.com/office/drawing/2014/main" val="1121409865"/>
                  </a:ext>
                </a:extLst>
              </a:tr>
              <a:tr h="5942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Documantaion Tools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>
                          <a:effectLst/>
                        </a:rPr>
                        <a:t>MS Word, Figma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extLst>
                  <a:ext uri="{0D108BD9-81ED-4DB2-BD59-A6C34878D82A}">
                    <a16:rowId xmlns:a16="http://schemas.microsoft.com/office/drawing/2014/main" val="2042940015"/>
                  </a:ext>
                </a:extLst>
              </a:tr>
              <a:tr h="5547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Guide Name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300" dirty="0">
                          <a:effectLst/>
                        </a:rPr>
                        <a:t>Mr. Ashish Solanki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23" marR="51123" marT="0" marB="0" anchor="ctr"/>
                </a:tc>
                <a:extLst>
                  <a:ext uri="{0D108BD9-81ED-4DB2-BD59-A6C34878D82A}">
                    <a16:rowId xmlns:a16="http://schemas.microsoft.com/office/drawing/2014/main" val="3669813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529033"/>
            <a:ext cx="7043617" cy="2520217"/>
          </a:xfrm>
        </p:spPr>
        <p:txBody>
          <a:bodyPr/>
          <a:lstStyle/>
          <a:p>
            <a:r>
              <a:rPr lang="en-US" dirty="0"/>
              <a:t>System flow diagram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346633"/>
            <a:ext cx="7043618" cy="223323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Admin System Flow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System Flow Diagram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578934"/>
            <a:ext cx="10511627" cy="1012785"/>
          </a:xfrm>
        </p:spPr>
        <p:txBody>
          <a:bodyPr/>
          <a:lstStyle/>
          <a:p>
            <a:r>
              <a:rPr lang="en-US" dirty="0"/>
              <a:t>Admin system flow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A17151-7004-644D-F048-439B2AB57E1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2733368" y="2163097"/>
            <a:ext cx="6282813" cy="410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DEC4-1354-221D-4F5F-B7D85B55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6C90-BE30-4C04-FCE3-025B26AA2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974" y="578934"/>
            <a:ext cx="10511627" cy="1012785"/>
          </a:xfrm>
        </p:spPr>
        <p:txBody>
          <a:bodyPr/>
          <a:lstStyle/>
          <a:p>
            <a:r>
              <a:rPr lang="en-US" dirty="0"/>
              <a:t>user system 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8CE3ED-2AA4-0136-DF4B-2C199FDE84B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2821858" y="1877961"/>
            <a:ext cx="6194323" cy="438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7215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CC0588C-F05D-3FC6-535D-11F7073D1A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0 level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 level Admin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 level User Diagram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C89F-F03F-7280-12CB-D7D2BCA52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692943"/>
            <a:ext cx="9875463" cy="999746"/>
          </a:xfrm>
        </p:spPr>
        <p:txBody>
          <a:bodyPr/>
          <a:lstStyle/>
          <a:p>
            <a:r>
              <a:rPr lang="en-US" dirty="0"/>
              <a:t>0 level diagram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87987B-2CC4-A829-96D1-113770688E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904864" y="2005781"/>
            <a:ext cx="6382272" cy="425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01678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3F8B3-0360-0EEF-329B-211D93ED4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B340-AC77-0C5E-AF29-22CF2A789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692943"/>
            <a:ext cx="9875463" cy="999746"/>
          </a:xfrm>
        </p:spPr>
        <p:txBody>
          <a:bodyPr/>
          <a:lstStyle/>
          <a:p>
            <a:r>
              <a:rPr lang="en-US" dirty="0"/>
              <a:t>1 level admin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AC7CC8-9C53-4519-C40C-3876A7E424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35741" y="2064774"/>
            <a:ext cx="6520518" cy="451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80702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E708-2DFA-9567-D0BC-EB6AB5715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E743-4FFA-99E1-D24F-DDE15EFDB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692943"/>
            <a:ext cx="9875463" cy="999746"/>
          </a:xfrm>
        </p:spPr>
        <p:txBody>
          <a:bodyPr/>
          <a:lstStyle/>
          <a:p>
            <a:r>
              <a:rPr lang="en-US" dirty="0"/>
              <a:t>1 level user diagram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5D8BA8-EFA8-3D64-0BA7-2D2CAE136D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35045" y="2015613"/>
            <a:ext cx="6921910" cy="46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66396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F83CC-3096-FCEA-DFD7-A5F252C0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35698"/>
            <a:ext cx="9879437" cy="980844"/>
          </a:xfrm>
        </p:spPr>
        <p:txBody>
          <a:bodyPr/>
          <a:lstStyle/>
          <a:p>
            <a:r>
              <a:rPr lang="en-US" dirty="0"/>
              <a:t>ER diagram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A22927-C448-83E5-83BB-64DBBAA371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39184" y="1779639"/>
            <a:ext cx="7313633" cy="448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1711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15D0-606C-CCE7-BCCF-E2E39820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design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67847-22AF-DF15-90EF-53894B8C17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User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Product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Order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Message Collection </a:t>
            </a:r>
          </a:p>
        </p:txBody>
      </p:sp>
    </p:spTree>
    <p:extLst>
      <p:ext uri="{BB962C8B-B14F-4D97-AF65-F5344CB8AC3E}">
        <p14:creationId xmlns:p14="http://schemas.microsoft.com/office/powerpoint/2010/main" val="398806936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40DB-4899-5FCA-6C0E-B99BFD18E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72139"/>
            <a:ext cx="10511627" cy="1012785"/>
          </a:xfrm>
        </p:spPr>
        <p:txBody>
          <a:bodyPr/>
          <a:lstStyle/>
          <a:p>
            <a:r>
              <a:rPr lang="en-US" dirty="0"/>
              <a:t>User collection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5AFA9AB-35BE-3365-BC7E-472C309F437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368261120"/>
              </p:ext>
            </p:extLst>
          </p:nvPr>
        </p:nvGraphicFramePr>
        <p:xfrm>
          <a:off x="2354826" y="2648961"/>
          <a:ext cx="7482348" cy="3319217"/>
        </p:xfrm>
        <a:graphic>
          <a:graphicData uri="http://schemas.openxmlformats.org/drawingml/2006/table">
            <a:tbl>
              <a:tblPr firstRow="1" firstCol="1" bandRow="1">
                <a:tableStyleId>{68D230F3-CF80-4859-8CE7-A43EE81993B5}</a:tableStyleId>
              </a:tblPr>
              <a:tblGrid>
                <a:gridCol w="2494116">
                  <a:extLst>
                    <a:ext uri="{9D8B030D-6E8A-4147-A177-3AD203B41FA5}">
                      <a16:colId xmlns:a16="http://schemas.microsoft.com/office/drawing/2014/main" val="1367867222"/>
                    </a:ext>
                  </a:extLst>
                </a:gridCol>
                <a:gridCol w="2494116">
                  <a:extLst>
                    <a:ext uri="{9D8B030D-6E8A-4147-A177-3AD203B41FA5}">
                      <a16:colId xmlns:a16="http://schemas.microsoft.com/office/drawing/2014/main" val="4138720227"/>
                    </a:ext>
                  </a:extLst>
                </a:gridCol>
                <a:gridCol w="2494116">
                  <a:extLst>
                    <a:ext uri="{9D8B030D-6E8A-4147-A177-3AD203B41FA5}">
                      <a16:colId xmlns:a16="http://schemas.microsoft.com/office/drawing/2014/main" val="317281691"/>
                    </a:ext>
                  </a:extLst>
                </a:gridCol>
              </a:tblGrid>
              <a:tr h="4118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Field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Type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4621561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name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User full name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3993196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email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Unique login email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9467258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password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String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Encrypted password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806868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role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Enum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user/admin access role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8441229"/>
                  </a:ext>
                </a:extLst>
              </a:tr>
              <a:tr h="84827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cart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Array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Embedded items with productId and quantity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2325787"/>
                  </a:ext>
                </a:extLst>
              </a:tr>
              <a:tr h="4118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wishlist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Array&lt;</a:t>
                      </a:r>
                      <a:r>
                        <a:rPr lang="en-US" sz="1400" dirty="0" err="1">
                          <a:effectLst/>
                        </a:rPr>
                        <a:t>ObjectId</a:t>
                      </a:r>
                      <a:r>
                        <a:rPr lang="en-US" sz="1400" dirty="0">
                          <a:effectLst/>
                        </a:rPr>
                        <a:t>&gt;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Saved product references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7511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1468607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4739-CA85-C7E8-A434-FCA01742E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609E-47A5-57CB-1DB7-02FAAB6B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72139"/>
            <a:ext cx="10511627" cy="1012785"/>
          </a:xfrm>
        </p:spPr>
        <p:txBody>
          <a:bodyPr/>
          <a:lstStyle/>
          <a:p>
            <a:r>
              <a:rPr lang="en-US" dirty="0"/>
              <a:t>Product collection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A1316B4-FAAC-DC09-8ED6-BA0AB305C69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56892969"/>
              </p:ext>
            </p:extLst>
          </p:nvPr>
        </p:nvGraphicFramePr>
        <p:xfrm>
          <a:off x="2527647" y="2625214"/>
          <a:ext cx="7136706" cy="3372460"/>
        </p:xfrm>
        <a:graphic>
          <a:graphicData uri="http://schemas.openxmlformats.org/drawingml/2006/table">
            <a:tbl>
              <a:tblPr firstRow="1" firstCol="1" bandRow="1">
                <a:tableStyleId>{68D230F3-CF80-4859-8CE7-A43EE81993B5}</a:tableStyleId>
              </a:tblPr>
              <a:tblGrid>
                <a:gridCol w="2378902">
                  <a:extLst>
                    <a:ext uri="{9D8B030D-6E8A-4147-A177-3AD203B41FA5}">
                      <a16:colId xmlns:a16="http://schemas.microsoft.com/office/drawing/2014/main" val="192830762"/>
                    </a:ext>
                  </a:extLst>
                </a:gridCol>
                <a:gridCol w="2378902">
                  <a:extLst>
                    <a:ext uri="{9D8B030D-6E8A-4147-A177-3AD203B41FA5}">
                      <a16:colId xmlns:a16="http://schemas.microsoft.com/office/drawing/2014/main" val="3853028286"/>
                    </a:ext>
                  </a:extLst>
                </a:gridCol>
                <a:gridCol w="2378902">
                  <a:extLst>
                    <a:ext uri="{9D8B030D-6E8A-4147-A177-3AD203B41FA5}">
                      <a16:colId xmlns:a16="http://schemas.microsoft.com/office/drawing/2014/main" val="347643316"/>
                    </a:ext>
                  </a:extLst>
                </a:gridCol>
              </a:tblGrid>
              <a:tr h="303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Field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Type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4431054"/>
                  </a:ext>
                </a:extLst>
              </a:tr>
              <a:tr h="303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title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Product title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0080102"/>
                  </a:ext>
                </a:extLst>
              </a:tr>
              <a:tr h="624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Detailed product information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4587639"/>
                  </a:ext>
                </a:extLst>
              </a:tr>
              <a:tr h="303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category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Product category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410431"/>
                  </a:ext>
                </a:extLst>
              </a:tr>
              <a:tr h="303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brand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Brand name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9150435"/>
                  </a:ext>
                </a:extLst>
              </a:tr>
              <a:tr h="303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price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Base price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4185840"/>
                  </a:ext>
                </a:extLst>
              </a:tr>
              <a:tr h="303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discountPercentage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Discount value in %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2616234"/>
                  </a:ext>
                </a:extLst>
              </a:tr>
              <a:tr h="6247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finalPrice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Virtual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Computed discounted price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3119730"/>
                  </a:ext>
                </a:extLst>
              </a:tr>
              <a:tr h="3032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stockQuantity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Current stock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518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774867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2B3E-2156-D62E-5737-FF3B653BE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0A57-7099-B7DD-BDE0-89D1BB7A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72139"/>
            <a:ext cx="10511627" cy="1012785"/>
          </a:xfrm>
        </p:spPr>
        <p:txBody>
          <a:bodyPr/>
          <a:lstStyle/>
          <a:p>
            <a:r>
              <a:rPr lang="en-US" dirty="0"/>
              <a:t>order collection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A49E38-9C82-A716-F168-3D71F2BB289B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803988557"/>
              </p:ext>
            </p:extLst>
          </p:nvPr>
        </p:nvGraphicFramePr>
        <p:xfrm>
          <a:off x="2670972" y="2880852"/>
          <a:ext cx="6850056" cy="3100319"/>
        </p:xfrm>
        <a:graphic>
          <a:graphicData uri="http://schemas.openxmlformats.org/drawingml/2006/table">
            <a:tbl>
              <a:tblPr firstRow="1" firstCol="1" bandRow="1">
                <a:tableStyleId>{68D230F3-CF80-4859-8CE7-A43EE81993B5}</a:tableStyleId>
              </a:tblPr>
              <a:tblGrid>
                <a:gridCol w="2283352">
                  <a:extLst>
                    <a:ext uri="{9D8B030D-6E8A-4147-A177-3AD203B41FA5}">
                      <a16:colId xmlns:a16="http://schemas.microsoft.com/office/drawing/2014/main" val="3780168854"/>
                    </a:ext>
                  </a:extLst>
                </a:gridCol>
                <a:gridCol w="2283352">
                  <a:extLst>
                    <a:ext uri="{9D8B030D-6E8A-4147-A177-3AD203B41FA5}">
                      <a16:colId xmlns:a16="http://schemas.microsoft.com/office/drawing/2014/main" val="713542303"/>
                    </a:ext>
                  </a:extLst>
                </a:gridCol>
                <a:gridCol w="2283352">
                  <a:extLst>
                    <a:ext uri="{9D8B030D-6E8A-4147-A177-3AD203B41FA5}">
                      <a16:colId xmlns:a16="http://schemas.microsoft.com/office/drawing/2014/main" val="1217799556"/>
                    </a:ext>
                  </a:extLst>
                </a:gridCol>
              </a:tblGrid>
              <a:tr h="3399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Field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Type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5527020"/>
                  </a:ext>
                </a:extLst>
              </a:tr>
              <a:tr h="3399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userId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ObjectId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Reference to User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7183279"/>
                  </a:ext>
                </a:extLst>
              </a:tr>
              <a:tr h="7002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orderItems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Array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Snapshot of purchased products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66295"/>
                  </a:ext>
                </a:extLst>
              </a:tr>
              <a:tr h="3399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shippingAddress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Object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Delivery details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8356017"/>
                  </a:ext>
                </a:extLst>
              </a:tr>
              <a:tr h="3399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paymentMethod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Selected payment mode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4434873"/>
                  </a:ext>
                </a:extLst>
              </a:tr>
              <a:tr h="3399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totalPrice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Number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Final payable amount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3849729"/>
                  </a:ext>
                </a:extLst>
              </a:tr>
              <a:tr h="7002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orderStatus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Enum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Processing/Shipped/Delivered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85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249751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1728-6875-887F-EBB2-057C5656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053F-B6D5-D7C1-666C-392C4FA62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72139"/>
            <a:ext cx="10511627" cy="1012785"/>
          </a:xfrm>
        </p:spPr>
        <p:txBody>
          <a:bodyPr/>
          <a:lstStyle/>
          <a:p>
            <a:r>
              <a:rPr lang="en-US" dirty="0"/>
              <a:t>message collection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1D97A10-EA2D-64EA-91E9-15358D9BA7A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60040212"/>
              </p:ext>
            </p:extLst>
          </p:nvPr>
        </p:nvGraphicFramePr>
        <p:xfrm>
          <a:off x="2788881" y="3028336"/>
          <a:ext cx="6614238" cy="2482698"/>
        </p:xfrm>
        <a:graphic>
          <a:graphicData uri="http://schemas.openxmlformats.org/drawingml/2006/table">
            <a:tbl>
              <a:tblPr firstRow="1" firstCol="1" bandRow="1">
                <a:tableStyleId>{68D230F3-CF80-4859-8CE7-A43EE81993B5}</a:tableStyleId>
              </a:tblPr>
              <a:tblGrid>
                <a:gridCol w="2204746">
                  <a:extLst>
                    <a:ext uri="{9D8B030D-6E8A-4147-A177-3AD203B41FA5}">
                      <a16:colId xmlns:a16="http://schemas.microsoft.com/office/drawing/2014/main" val="3567216756"/>
                    </a:ext>
                  </a:extLst>
                </a:gridCol>
                <a:gridCol w="2204746">
                  <a:extLst>
                    <a:ext uri="{9D8B030D-6E8A-4147-A177-3AD203B41FA5}">
                      <a16:colId xmlns:a16="http://schemas.microsoft.com/office/drawing/2014/main" val="2634169213"/>
                    </a:ext>
                  </a:extLst>
                </a:gridCol>
                <a:gridCol w="2204746">
                  <a:extLst>
                    <a:ext uri="{9D8B030D-6E8A-4147-A177-3AD203B41FA5}">
                      <a16:colId xmlns:a16="http://schemas.microsoft.com/office/drawing/2014/main" val="3395840476"/>
                    </a:ext>
                  </a:extLst>
                </a:gridCol>
              </a:tblGrid>
              <a:tr h="413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Field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Type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0960639"/>
                  </a:ext>
                </a:extLst>
              </a:tr>
              <a:tr h="413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name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Sender name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1667890"/>
                  </a:ext>
                </a:extLst>
              </a:tr>
              <a:tr h="413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email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Sender email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634726"/>
                  </a:ext>
                </a:extLst>
              </a:tr>
              <a:tr h="413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subject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Query subject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6314888"/>
                  </a:ext>
                </a:extLst>
              </a:tr>
              <a:tr h="413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message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String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Query body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34022"/>
                  </a:ext>
                </a:extLst>
              </a:tr>
              <a:tr h="4137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status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Enum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unread/read/replied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6530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654377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4A387-AFE9-ECFE-699C-1F33802D5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2474"/>
            <a:ext cx="7843837" cy="1012782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98B2-73BD-FE88-A289-631C7ED398E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7629832" cy="4147667"/>
          </a:xfrm>
        </p:spPr>
        <p:txBody>
          <a:bodyPr>
            <a:normAutofit fontScale="85000"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Angular Documentation - </a:t>
            </a:r>
            <a:r>
              <a:rPr lang="en-US" u="sng" dirty="0">
                <a:hlinkClick r:id="rId2"/>
              </a:rPr>
              <a:t>https://angular.dev</a:t>
            </a:r>
            <a:endParaRPr lang="en-US" dirty="0"/>
          </a:p>
          <a:p>
            <a:r>
              <a:rPr lang="en-US" dirty="0"/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Node.js Documentation - https://nodejs.org/en/docs</a:t>
            </a:r>
          </a:p>
          <a:p>
            <a:r>
              <a:rPr lang="en-US" dirty="0"/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Express Documentation - https://expressjs.com</a:t>
            </a:r>
          </a:p>
          <a:p>
            <a:r>
              <a:rPr lang="en-US" dirty="0"/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MongoDB Documentation - https://www.mongodb.com/docs</a:t>
            </a:r>
          </a:p>
          <a:p>
            <a:r>
              <a:rPr lang="en-US" dirty="0"/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Mongoose Documentation - https://mongoosejs.com/docs</a:t>
            </a:r>
          </a:p>
          <a:p>
            <a:r>
              <a:rPr lang="en-US" dirty="0"/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Tailwind CSS Documentation - https://tailwindcss.com/docs</a:t>
            </a:r>
          </a:p>
          <a:p>
            <a:r>
              <a:rPr lang="en-US" dirty="0"/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TypeScript Documentation - https://www.typescriptlang.org/docs</a:t>
            </a:r>
          </a:p>
          <a:p>
            <a:r>
              <a:rPr lang="en-US" dirty="0"/>
              <a:t> 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GitHub - </a:t>
            </a:r>
            <a:r>
              <a:rPr lang="en-US" u="sng" dirty="0">
                <a:hlinkClick r:id="rId3"/>
              </a:rPr>
              <a:t>https://github.com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84C4FD6-A0FE-2319-6FA5-4D6E08A868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100965661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47FD-A83A-48E9-5C19-9E3477322C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56978272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{0565EF59-7063-462B-8783-8DDB1C39EF57}TF8a9b5915-b8c7-461e-8cdd-693d48b5e32371f7b7e2_win32-4bf0b9a2ea37</Template>
  <TotalTime>39</TotalTime>
  <Words>741</Words>
  <Application>Microsoft Office PowerPoint</Application>
  <PresentationFormat>Widescreen</PresentationFormat>
  <Paragraphs>187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Cambria</vt:lpstr>
      <vt:lpstr>Sabon Next LT</vt:lpstr>
      <vt:lpstr>Wingdings</vt:lpstr>
      <vt:lpstr>Custom</vt:lpstr>
      <vt:lpstr>PowerPoint Presentation</vt:lpstr>
      <vt:lpstr>Techify (e-commerce platform)</vt:lpstr>
      <vt:lpstr>agenda</vt:lpstr>
      <vt:lpstr>Project Overview </vt:lpstr>
      <vt:lpstr>admin panel</vt:lpstr>
      <vt:lpstr>User panel</vt:lpstr>
      <vt:lpstr>Project profile</vt:lpstr>
      <vt:lpstr>System flow diagram</vt:lpstr>
      <vt:lpstr>Admin system flow diagram</vt:lpstr>
      <vt:lpstr>user system flow diagram</vt:lpstr>
      <vt:lpstr>Data flow diagram</vt:lpstr>
      <vt:lpstr>0 level diagram </vt:lpstr>
      <vt:lpstr>1 level admin diagram </vt:lpstr>
      <vt:lpstr>1 level user diagram </vt:lpstr>
      <vt:lpstr>ER diagram </vt:lpstr>
      <vt:lpstr>Database design </vt:lpstr>
      <vt:lpstr>User collection </vt:lpstr>
      <vt:lpstr>Product collection </vt:lpstr>
      <vt:lpstr>order collection </vt:lpstr>
      <vt:lpstr>message collection 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Jenish Bhalala</dc:creator>
  <cp:lastModifiedBy>Jenish Bhalala</cp:lastModifiedBy>
  <cp:revision>5</cp:revision>
  <dcterms:created xsi:type="dcterms:W3CDTF">2026-04-10T04:38:34Z</dcterms:created>
  <dcterms:modified xsi:type="dcterms:W3CDTF">2026-04-10T05:18:32Z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